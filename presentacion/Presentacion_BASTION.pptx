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95648" y="502920"/>
            <a:ext cx="3200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tmp/integrador/assets/logo_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61408" y="713232"/>
            <a:ext cx="2468880" cy="960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031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INTERNACIONAL DEL ECUADOR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0" y="2542032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4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0" y="297180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BASTION</a:t>
            </a:r>
            <a:endParaRPr lang="en-US" sz="76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Boveda Personal de Credenciales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0" y="46177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8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de las nuevas tecnologias en la sociedad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0" y="525780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Alexander Benz Zambrano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 de Programacion  ·  Msc. Lilian Aman  ·  Paralelo 1-CIB-1A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Quito - Ecuador  ·  junio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persona administra hoy decenas de credenciales. Sin herramientas, recurre a practicas inseguras: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502152" cy="2926080"/>
          </a:xfrm>
          <a:prstGeom prst="roundRect">
            <a:avLst>
              <a:gd name="adj" fmla="val 2813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23160"/>
            <a:ext cx="640080" cy="640080"/>
          </a:xfrm>
          <a:prstGeom prst="ellipse">
            <a:avLst/>
          </a:prstGeom>
          <a:solidFill>
            <a:srgbClr val="7A1F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Reutilizacion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misma contrasena en muchos servicios: filtrar uno compromete todos.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26280" y="2148840"/>
            <a:ext cx="3502152" cy="2926080"/>
          </a:xfrm>
          <a:prstGeom prst="roundRect">
            <a:avLst>
              <a:gd name="adj" fmla="val 2813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2423160"/>
            <a:ext cx="640080" cy="640080"/>
          </a:xfrm>
          <a:prstGeom prst="ellipse">
            <a:avLst/>
          </a:prstGeom>
          <a:solidFill>
            <a:srgbClr val="7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00600" y="32461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Claves debiles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0600" y="3749040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Contrasenas cortas y predecibles, faciles de adivinar por fuerza bruta.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412480" y="2148840"/>
            <a:ext cx="3502152" cy="2926080"/>
          </a:xfrm>
          <a:prstGeom prst="roundRect">
            <a:avLst>
              <a:gd name="adj" fmla="val 2813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0" y="2423160"/>
            <a:ext cx="640080" cy="640080"/>
          </a:xfrm>
          <a:prstGeom prst="ellipse">
            <a:avLst/>
          </a:prstGeom>
          <a:solidFill>
            <a:srgbClr val="7A1F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686800" y="324612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cifrar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0" y="3749040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Guardarlas en notas, hojas de calculo o archivos de texto plano.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solucion: BASTION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boveda personal de credenciales de linea de comandos en Python. Genera contrasenas seguras y las guarda en un archivo local protegido por una unica contrasena maestra.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30449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Local, sin nube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48386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nunca salen del equipo: menor superficie de ataque.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88036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30449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Contrasena maestra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348386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hash SHA-256 protege el acceso; la clave nunca se guarda en claro.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57200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7365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Generador seguro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1755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claves robustas con indicador de fortaleza.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457200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47365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Organizada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46520" y="51755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por categorias, busqueda e historial de accesos.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en tres capas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029200" cy="1234440"/>
          </a:xfrm>
          <a:prstGeom prst="roundRect">
            <a:avLst>
              <a:gd name="adj" fmla="val 6667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7007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19751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3408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de la interfaz CLI e interaccion con el usuario.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5029200" cy="1234440"/>
          </a:xfrm>
          <a:prstGeom prst="roundRect">
            <a:avLst>
              <a:gd name="adj" fmla="val 6667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1181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3924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 de negocio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3758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Generador, validaciones, bucles y casos de uso.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029200" cy="1234440"/>
          </a:xfrm>
          <a:prstGeom prst="roundRect">
            <a:avLst>
              <a:gd name="adj" fmla="val 6667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53542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48097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Persistencia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51755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y escritura del archivo JSON local.</a:t>
            </a:r>
            <a:endParaRPr lang="en-US" sz="1250" dirty="0"/>
          </a:p>
        </p:txBody>
      </p:sp>
      <p:pic>
        <p:nvPicPr>
          <p:cNvPr id="15" name="Image 0" descr="/tmp/integrador/assets/arquitectura_cap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783080"/>
            <a:ext cx="5669280" cy="376732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del sistema</a:t>
            </a:r>
            <a:endParaRPr lang="en-US" sz="3000" dirty="0"/>
          </a:p>
        </p:txBody>
      </p:sp>
      <p:pic>
        <p:nvPicPr>
          <p:cNvPr id="3" name="Image 0" descr="/tmp/integrador/assets/casos_de_u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120640" cy="41696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26480" y="164592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CU-01  Crear boveda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CU-02  Iniciar sesion (desbloquear)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CU-03  Generar contrasena segura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CU-04  Agregar credencial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CU-05  Configurar 2FA (TOTP) - planificado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CU-06  Buscar credencial por nombre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CU-07  Ver todas las credenciales</a:t>
            </a:r>
            <a:endParaRPr lang="en-US" sz="1400" dirty="0"/>
          </a:p>
          <a:p>
            <a:pPr algn="l"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 Cambiar maestra / Ver historial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Integracion de las cuatro unidades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801368"/>
            <a:ext cx="868680" cy="868680"/>
          </a:xfrm>
          <a:prstGeom prst="ellipse">
            <a:avLst/>
          </a:prstGeom>
          <a:solidFill>
            <a:srgbClr val="7A1F3D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180136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8196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11680" y="209397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y diseno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50976" y="28072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Definicion del problema; diagramas de casos de uso, flujo y arquitectura.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50876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801368"/>
            <a:ext cx="868680" cy="868680"/>
          </a:xfrm>
          <a:prstGeom prst="ellipse">
            <a:avLst/>
          </a:prstGeom>
          <a:solidFill>
            <a:srgbClr val="2B2F4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180136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35240" y="18196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35240" y="209397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 y tipos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74536" y="28072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para control de versiones; variables str, int y bool.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4041648"/>
            <a:ext cx="868680" cy="868680"/>
          </a:xfrm>
          <a:prstGeom prst="ellipse">
            <a:avLst/>
          </a:prstGeom>
          <a:solidFill>
            <a:srgbClr val="7A1F3D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40416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011680" y="40599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11680" y="433425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Bucles y decisiones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50976" y="504748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con contador, for con range y .items(), if/elif/else, operadores.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374904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56248" y="4041648"/>
            <a:ext cx="868680" cy="868680"/>
          </a:xfrm>
          <a:prstGeom prst="ellipse">
            <a:avLst/>
          </a:prstGeom>
          <a:solidFill>
            <a:srgbClr val="2B2F44"/>
          </a:solidFill>
          <a:ln/>
        </p:spPr>
      </p:sp>
      <p:sp>
        <p:nvSpPr>
          <p:cNvPr id="23" name="Text 21"/>
          <p:cNvSpPr/>
          <p:nvPr/>
        </p:nvSpPr>
        <p:spPr>
          <a:xfrm>
            <a:off x="6556248" y="40416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635240" y="40599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35240" y="433425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y funciones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574536" y="504748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Tupla CATEGORIAS, lista historial, funciones con parametros por defecto.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codigo en accion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estructura de las cuatro unidades aparece de forma explicita y comentada en el codigo: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4160520"/>
          </a:xfrm>
          <a:prstGeom prst="roundRect">
            <a:avLst>
              <a:gd name="adj" fmla="val 1758"/>
            </a:avLst>
          </a:prstGeom>
          <a:solidFill>
            <a:srgbClr val="2B2F4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intentos &lt; MAX_INTENTOS: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040880" y="2240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bucle con contador (login, 3 intentos)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77977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range(longitud):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040880" y="277977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genera la contrasena caracter por caracter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3192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s, d in credenciales.items():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recorre el diccionario de credenciales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38587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longitud &gt;= 12 and tipos &gt;= 3: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0" y="38587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operadores relacionales y logicos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3982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 = ("Redes", "Banca", ...)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040880" y="43982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TUPLA de categorias (Unidad 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 = []   #  .append(...)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4937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LISTA de accesos con fecha y hora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54772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E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registrar_acceso(b, ev="..."):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547725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C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funcion con parametro por defecto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Reflexion: impacto en la sociedad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32688" y="17922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al alcance de todos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2688" y="24231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gestores permiten claves unicas y robustas sin memorizarlas: democratizan buenas practicas que antes eran solo de expertos.</a:t>
            </a:r>
            <a:endParaRPr lang="en-US" sz="128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56248" y="17922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Comodidad frente a privacidad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556248" y="24231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todas las claves agiliza, pero concentra el riesgo. El diseno responsable equilibra ambos: BASTION opera local, sin nube.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2688" y="403250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Etica y datos personales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32688" y="46634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Custodiar credenciales implica un deber de cuidado. La LOPDP ecuatoriana exige finalidad, minimizacion y seguridad en el tratamiento de datos.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6263640" y="379476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56248" y="403250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futuro de la autenticacion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556248" y="46634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Passkeys (FIDO2) y criptografia post-cuantica marcan la hoja de ruta; los gestores siguen siendo infraestructura de confianza.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limitaciones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10512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estructuras de las cuatro unidades resuelven un problema real de gestion de credenciales.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 tres capas aporta orden, claridad y mantenibilidad.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solo el hash de la maestra y operar local refleja buenas practicas de seguridad.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programacion y ciberseguridad sobre estandares reconocidos.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55080" y="1371600"/>
            <a:ext cx="5193792" cy="4572000"/>
          </a:xfrm>
          <a:prstGeom prst="roundRect">
            <a:avLst>
              <a:gd name="adj" fmla="val 1800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29400" y="1627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2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29400" y="2029968"/>
            <a:ext cx="4663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credenciales se guardan en JSON sin cifrado AES (planificado con Argon2id).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local de un solo usuario, sin acceso concurrente.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segundo factor de autenticacion aun.</a:t>
            </a:r>
            <a:endParaRPr lang="en-US" sz="1350" dirty="0"/>
          </a:p>
          <a:p>
            <a:pPr marL="228600" indent="-228600">
              <a:buSzPct val="100000"/>
              <a:buChar char="•"/>
            </a:pPr>
            <a:r>
              <a:rPr lang="en-US" sz="135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de linea de comandos; la grafica queda como evolucion.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aplicacion web en vivo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codigo de bastion.py se ejecuta dentro del navegador con Pyodide. La docente puede entrar, usar la herramienta y ver el codigo Python corriendo por dentro.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4871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real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32688" y="3035808"/>
            <a:ext cx="29443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codigo de bastion.py corre en el navegador mediante Pyodide (WebAssembly); no se reescribe en JavaScript.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1945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18888" y="24871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Consola en vivo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18888" y="3035808"/>
            <a:ext cx="29443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muestra cada llamada a Python y su resultado: transparencia total del funcionamiento.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0" y="21945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F7F1F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05088" y="24871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instalar nada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05088" y="3035808"/>
            <a:ext cx="29443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Publicada en GitHub Pages; se abre desde cualquier navegador, en escritorio o movil.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5074920"/>
            <a:ext cx="7616952" cy="777240"/>
          </a:xfrm>
          <a:prstGeom prst="roundRect">
            <a:avLst>
              <a:gd name="adj" fmla="val 49412"/>
            </a:avLst>
          </a:prstGeom>
          <a:solidFill>
            <a:srgbClr val="2B2F4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286000" y="5074920"/>
            <a:ext cx="7616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Pruebala en vivo:  </a:t>
            </a:r>
            <a:pPr algn="ctr" indent="0" marL="0">
              <a:buNone/>
            </a:pPr>
            <a:r>
              <a:rPr lang="en-US" sz="1500" b="1" dirty="0">
                <a:solidFill>
                  <a:srgbClr val="E8B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bluenovasas.github.io/bastion-uide/webapp/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</a:t>
            </a:r>
            <a:pPr algn="l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Integrador  ·  UIDE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03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- Boveda Personal de Credenciales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61208" y="4114800"/>
            <a:ext cx="56692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3261208" y="41148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github.com/Bluenovasas/bastion-uide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Alexander Benz Zambrano  ·  UIDE  ·  1-CIB-1A  ·  junio de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BASTION - Proyecto Integrador</dc:title>
  <dc:subject>PptxGenJS Presentation</dc:subject>
  <dc:creator>David Alexander Benz Zambrano</dc:creator>
  <cp:lastModifiedBy>David Alexander Benz Zambrano</cp:lastModifiedBy>
  <cp:revision>1</cp:revision>
  <dcterms:created xsi:type="dcterms:W3CDTF">2026-06-26T20:21:11Z</dcterms:created>
  <dcterms:modified xsi:type="dcterms:W3CDTF">2026-06-26T20:21:11Z</dcterms:modified>
</cp:coreProperties>
</file>